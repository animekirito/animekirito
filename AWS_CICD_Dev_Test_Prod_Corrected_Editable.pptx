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320040"/>
            <a:ext cx="3520440" cy="4251960"/>
          </a:xfrm>
          <a:prstGeom prst="roundRect">
            <a:avLst/>
          </a:prstGeom>
          <a:solidFill>
            <a:srgbClr val="FAFCFD"/>
          </a:solidFill>
          <a:ln w="17780">
            <a:solidFill>
              <a:srgbClr val="184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320040"/>
            <a:ext cx="3520440" cy="438912"/>
          </a:xfrm>
          <a:prstGeom prst="roundRect">
            <a:avLst/>
          </a:prstGeom>
          <a:solidFill>
            <a:srgbClr val="184278"/>
          </a:solidFill>
          <a:ln>
            <a:solidFill>
              <a:srgbClr val="184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365759"/>
            <a:ext cx="319125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AWS Dev Environment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5112" y="320040"/>
            <a:ext cx="3520440" cy="4251960"/>
          </a:xfrm>
          <a:prstGeom prst="roundRect">
            <a:avLst/>
          </a:prstGeom>
          <a:solidFill>
            <a:srgbClr val="FAFCFD"/>
          </a:solidFill>
          <a:ln w="17780">
            <a:solidFill>
              <a:srgbClr val="184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25112" y="320040"/>
            <a:ext cx="3520440" cy="438912"/>
          </a:xfrm>
          <a:prstGeom prst="roundRect">
            <a:avLst/>
          </a:prstGeom>
          <a:solidFill>
            <a:srgbClr val="184278"/>
          </a:solidFill>
          <a:ln>
            <a:solidFill>
              <a:srgbClr val="184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9704" y="365759"/>
            <a:ext cx="319125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AWS Test Environment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21624" y="320040"/>
            <a:ext cx="3520440" cy="4251960"/>
          </a:xfrm>
          <a:prstGeom prst="roundRect">
            <a:avLst/>
          </a:prstGeom>
          <a:solidFill>
            <a:srgbClr val="FAFCFD"/>
          </a:solidFill>
          <a:ln w="17780">
            <a:solidFill>
              <a:srgbClr val="184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21624" y="320040"/>
            <a:ext cx="3520440" cy="438912"/>
          </a:xfrm>
          <a:prstGeom prst="roundRect">
            <a:avLst/>
          </a:prstGeom>
          <a:solidFill>
            <a:srgbClr val="184278"/>
          </a:solidFill>
          <a:ln>
            <a:solidFill>
              <a:srgbClr val="184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86216" y="365759"/>
            <a:ext cx="319125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AWS Prod Environment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987552"/>
            <a:ext cx="1536192" cy="1234440"/>
          </a:xfrm>
          <a:prstGeom prst="roundRect">
            <a:avLst/>
          </a:prstGeom>
          <a:solidFill>
            <a:srgbClr val="F0F6FB"/>
          </a:solidFill>
          <a:ln w="17780">
            <a:solidFill>
              <a:srgbClr val="4C7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3" y="1078992"/>
            <a:ext cx="138988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232D37"/>
                </a:solidFill>
                <a:latin typeface="Aptos"/>
              </a:rPr>
              <a:t>1. Developer Commits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3" y="1517904"/>
            <a:ext cx="1389888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30" b="0">
                <a:solidFill>
                  <a:srgbClr val="58626C"/>
                </a:solidFill>
                <a:latin typeface="Aptos"/>
              </a:rPr>
              <a:t>CodeCommit
[Dev Repository (GIT)]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21408" y="987552"/>
            <a:ext cx="1417320" cy="1234440"/>
          </a:xfrm>
          <a:prstGeom prst="roundRect">
            <a:avLst/>
          </a:prstGeom>
          <a:solidFill>
            <a:srgbClr val="F0F6FB"/>
          </a:solidFill>
          <a:ln w="17780">
            <a:solidFill>
              <a:srgbClr val="4C7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1078992"/>
            <a:ext cx="1271016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232D37"/>
                </a:solidFill>
                <a:latin typeface="Aptos"/>
              </a:rPr>
              <a:t>2. CodeBuild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1517904"/>
            <a:ext cx="1271016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30" b="0">
                <a:solidFill>
                  <a:srgbClr val="58626C"/>
                </a:solidFill>
                <a:latin typeface="Aptos"/>
              </a:rPr>
              <a:t>Build / package
selected artifacts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" y="2542032"/>
            <a:ext cx="3099816" cy="1508760"/>
          </a:xfrm>
          <a:prstGeom prst="roundRect">
            <a:avLst/>
          </a:prstGeom>
          <a:solidFill>
            <a:srgbClr val="F2ECF9"/>
          </a:solidFill>
          <a:ln w="17780">
            <a:solidFill>
              <a:srgbClr val="4C7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633472"/>
            <a:ext cx="28803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E64B9"/>
                </a:solidFill>
                <a:latin typeface="Aptos"/>
              </a:rPr>
              <a:t>3. CodePipeline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971800"/>
            <a:ext cx="2843784" cy="102412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19" b="0">
                <a:solidFill>
                  <a:srgbClr val="58626C"/>
                </a:solidFill>
                <a:latin typeface="Aptos"/>
              </a:rPr>
              <a:t>Runs repository source + CodeBuild
• Manually triggered by AWS Dev Admin
• Run after Dev changes are ready
• Promotes selected code to next environment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35424" y="987552"/>
            <a:ext cx="1536192" cy="1234440"/>
          </a:xfrm>
          <a:prstGeom prst="roundRect">
            <a:avLst/>
          </a:prstGeom>
          <a:solidFill>
            <a:srgbClr val="E6F6EF"/>
          </a:solidFill>
          <a:ln w="17780">
            <a:solidFill>
              <a:srgbClr val="4C7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8576" y="1078992"/>
            <a:ext cx="138988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232D37"/>
                </a:solidFill>
                <a:latin typeface="Aptos"/>
              </a:rPr>
              <a:t>1. Test Repository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8576" y="1517904"/>
            <a:ext cx="1389888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30" b="0">
                <a:solidFill>
                  <a:srgbClr val="58626C"/>
                </a:solidFill>
                <a:latin typeface="Aptos"/>
              </a:rPr>
              <a:t>CodeCommit
[Test Repository (GIT)]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987552"/>
            <a:ext cx="1417320" cy="1234440"/>
          </a:xfrm>
          <a:prstGeom prst="roundRect">
            <a:avLst/>
          </a:prstGeom>
          <a:solidFill>
            <a:srgbClr val="F0F6FB"/>
          </a:solidFill>
          <a:ln w="17780">
            <a:solidFill>
              <a:srgbClr val="4C7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1078992"/>
            <a:ext cx="1271016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232D37"/>
                </a:solidFill>
                <a:latin typeface="Aptos"/>
              </a:rPr>
              <a:t>2. CodeBuild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1517904"/>
            <a:ext cx="1271016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30" b="0">
                <a:solidFill>
                  <a:srgbClr val="58626C"/>
                </a:solidFill>
                <a:latin typeface="Aptos"/>
              </a:rPr>
              <a:t>Build / package
selected artifacts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35424" y="2542032"/>
            <a:ext cx="3099816" cy="1508760"/>
          </a:xfrm>
          <a:prstGeom prst="roundRect">
            <a:avLst/>
          </a:prstGeom>
          <a:solidFill>
            <a:srgbClr val="F2ECF9"/>
          </a:solidFill>
          <a:ln w="17780">
            <a:solidFill>
              <a:srgbClr val="4C7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45152" y="2633472"/>
            <a:ext cx="28803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E64B9"/>
                </a:solidFill>
                <a:latin typeface="Aptos"/>
              </a:rPr>
              <a:t>3. CodePipeline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2971800"/>
            <a:ext cx="2843784" cy="102412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19" b="0">
                <a:solidFill>
                  <a:srgbClr val="58626C"/>
                </a:solidFill>
                <a:latin typeface="Aptos"/>
              </a:rPr>
              <a:t>Runs repository source + CodeBuild
• Manually triggered by AWS Test Admin
• Run after Dev pipeline promotion completes
• Promotes selected code to next environment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31936" y="987552"/>
            <a:ext cx="1536192" cy="1234440"/>
          </a:xfrm>
          <a:prstGeom prst="roundRect">
            <a:avLst/>
          </a:prstGeom>
          <a:solidFill>
            <a:srgbClr val="E6F6EF"/>
          </a:solidFill>
          <a:ln w="17780">
            <a:solidFill>
              <a:srgbClr val="4C7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05088" y="1078992"/>
            <a:ext cx="138988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232D37"/>
                </a:solidFill>
                <a:latin typeface="Aptos"/>
              </a:rPr>
              <a:t>1. Prod Repository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05088" y="1517904"/>
            <a:ext cx="1389888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30" b="0">
                <a:solidFill>
                  <a:srgbClr val="58626C"/>
                </a:solidFill>
                <a:latin typeface="Aptos"/>
              </a:rPr>
              <a:t>CodeCommit
[Prod Repository (GIT)]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14432" y="987552"/>
            <a:ext cx="1417320" cy="1234440"/>
          </a:xfrm>
          <a:prstGeom prst="roundRect">
            <a:avLst/>
          </a:prstGeom>
          <a:solidFill>
            <a:srgbClr val="F0F6FB"/>
          </a:solidFill>
          <a:ln w="17780">
            <a:solidFill>
              <a:srgbClr val="4C7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87584" y="1078992"/>
            <a:ext cx="1271016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232D37"/>
                </a:solidFill>
                <a:latin typeface="Aptos"/>
              </a:rPr>
              <a:t>2. CodeBuild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87584" y="1517904"/>
            <a:ext cx="1271016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30" b="0">
                <a:solidFill>
                  <a:srgbClr val="58626C"/>
                </a:solidFill>
                <a:latin typeface="Aptos"/>
              </a:rPr>
              <a:t>Build / deploy
production artifacts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31936" y="2542032"/>
            <a:ext cx="3099816" cy="1508760"/>
          </a:xfrm>
          <a:prstGeom prst="roundRect">
            <a:avLst/>
          </a:prstGeom>
          <a:solidFill>
            <a:srgbClr val="F2ECF9"/>
          </a:solidFill>
          <a:ln w="17780">
            <a:solidFill>
              <a:srgbClr val="4C7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41663" y="2633472"/>
            <a:ext cx="28803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E64B9"/>
                </a:solidFill>
                <a:latin typeface="Aptos"/>
              </a:rPr>
              <a:t>3. CodePipeline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59952" y="2971800"/>
            <a:ext cx="2843784" cy="102412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19" b="0">
                <a:solidFill>
                  <a:srgbClr val="58626C"/>
                </a:solidFill>
                <a:latin typeface="Aptos"/>
              </a:rPr>
              <a:t>Runs repository source + CodeBuild
• Manually triggered by AWS Prod Admin
• Run after Test pipeline promotion completes
• Promotes selected code to next environment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07008" y="2221992"/>
            <a:ext cx="0" cy="320040"/>
          </a:xfrm>
          <a:prstGeom prst="line">
            <a:avLst/>
          </a:prstGeom>
          <a:ln w="29209">
            <a:solidFill>
              <a:srgbClr val="1E64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825496" y="2221992"/>
            <a:ext cx="0" cy="320040"/>
          </a:xfrm>
          <a:prstGeom prst="line">
            <a:avLst/>
          </a:prstGeom>
          <a:ln w="29209">
            <a:solidFill>
              <a:srgbClr val="1E64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303520" y="2221992"/>
            <a:ext cx="0" cy="320040"/>
          </a:xfrm>
          <a:prstGeom prst="line">
            <a:avLst/>
          </a:prstGeom>
          <a:ln w="29209">
            <a:solidFill>
              <a:srgbClr val="1E64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922008" y="2221992"/>
            <a:ext cx="0" cy="320040"/>
          </a:xfrm>
          <a:prstGeom prst="line">
            <a:avLst/>
          </a:prstGeom>
          <a:ln w="29209">
            <a:solidFill>
              <a:srgbClr val="1E64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400032" y="2221992"/>
            <a:ext cx="0" cy="320040"/>
          </a:xfrm>
          <a:prstGeom prst="line">
            <a:avLst/>
          </a:prstGeom>
          <a:ln w="29209">
            <a:solidFill>
              <a:srgbClr val="1E64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1018520" y="2221992"/>
            <a:ext cx="0" cy="320040"/>
          </a:xfrm>
          <a:prstGeom prst="line">
            <a:avLst/>
          </a:prstGeom>
          <a:ln w="29209">
            <a:solidFill>
              <a:srgbClr val="1E64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538728" y="3063240"/>
            <a:ext cx="438911" cy="0"/>
          </a:xfrm>
          <a:prstGeom prst="line">
            <a:avLst/>
          </a:prstGeom>
          <a:ln w="29209">
            <a:solidFill>
              <a:srgbClr val="1E64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977639" y="1609344"/>
            <a:ext cx="0" cy="1453896"/>
          </a:xfrm>
          <a:prstGeom prst="line">
            <a:avLst/>
          </a:prstGeom>
          <a:ln w="29209">
            <a:solidFill>
              <a:srgbClr val="1E64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977639" y="1609344"/>
            <a:ext cx="557785" cy="0"/>
          </a:xfrm>
          <a:prstGeom prst="line">
            <a:avLst/>
          </a:prstGeom>
          <a:ln w="29209">
            <a:solidFill>
              <a:srgbClr val="1E64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753611" y="1298448"/>
            <a:ext cx="1005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1E64B9"/>
                </a:solidFill>
                <a:latin typeface="Aptos"/>
              </a:rPr>
              <a:t>Push to Test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635240" y="3063240"/>
            <a:ext cx="438912" cy="0"/>
          </a:xfrm>
          <a:prstGeom prst="line">
            <a:avLst/>
          </a:prstGeom>
          <a:ln w="29209">
            <a:solidFill>
              <a:srgbClr val="1E64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8074152" y="1609344"/>
            <a:ext cx="0" cy="1453896"/>
          </a:xfrm>
          <a:prstGeom prst="line">
            <a:avLst/>
          </a:prstGeom>
          <a:ln w="29209">
            <a:solidFill>
              <a:srgbClr val="1E64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074152" y="1609344"/>
            <a:ext cx="557784" cy="0"/>
          </a:xfrm>
          <a:prstGeom prst="line">
            <a:avLst/>
          </a:prstGeom>
          <a:ln w="29209">
            <a:solidFill>
              <a:srgbClr val="1E64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850123" y="1298448"/>
            <a:ext cx="1005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1E64B9"/>
                </a:solidFill>
                <a:latin typeface="Aptos"/>
              </a:rPr>
              <a:t>Push to Prod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5800" y="4846320"/>
            <a:ext cx="10835640" cy="658368"/>
          </a:xfrm>
          <a:prstGeom prst="roundRect">
            <a:avLst/>
          </a:prstGeom>
          <a:solidFill>
            <a:srgbClr val="F5F8FB"/>
          </a:solidFill>
          <a:ln w="17780">
            <a:solidFill>
              <a:srgbClr val="96A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4937760"/>
            <a:ext cx="104698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40" b="1">
                <a:solidFill>
                  <a:srgbClr val="184278"/>
                </a:solidFill>
                <a:latin typeface="Aptos"/>
              </a:rPr>
              <a:t>Dev CodeCommit → Dev CodeBuild → Dev CodePipeline  →  TEST CODECOMMIT  → Test CodeBuild → Test CodePipeline  →  PROD CODECOMMIT  → Prod CodeBuild → Prod CodePipeline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" y="5650992"/>
            <a:ext cx="103327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19" b="1">
                <a:solidFill>
                  <a:srgbClr val="232D37"/>
                </a:solidFill>
                <a:latin typeface="Aptos"/>
              </a:rPr>
              <a:t>Promotion arrows intentionally terminate at the next environment's CodeCommit repository.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" y="6089904"/>
            <a:ext cx="103327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30" b="0">
                <a:solidFill>
                  <a:srgbClr val="58626C"/>
                </a:solidFill>
                <a:latin typeface="Aptos"/>
              </a:rPr>
              <a:t>Green = destination repository   |   Blue = build/developer step   |   Purple = CodePipeline orchestration   |   All shapes, text and arrows are editable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