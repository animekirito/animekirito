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08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08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7103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144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Glue CI/CD Modernization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15544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</a:rPr>
              <a:t>Development → Test → Production migration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764792" y="3182112"/>
            <a:ext cx="493776" cy="0"/>
          </a:xfrm>
          <a:prstGeom prst="line">
            <a:avLst/>
          </a:prstGeom>
          <a:noFill/>
          <a:ln w="1524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410712" y="3182112"/>
            <a:ext cx="493776" cy="0"/>
          </a:xfrm>
          <a:prstGeom prst="line">
            <a:avLst/>
          </a:prstGeom>
          <a:noFill/>
          <a:ln w="1524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56632" y="3182112"/>
            <a:ext cx="493776" cy="0"/>
          </a:xfrm>
          <a:prstGeom prst="line">
            <a:avLst/>
          </a:prstGeom>
          <a:noFill/>
          <a:ln w="1524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702552" y="3182112"/>
            <a:ext cx="493776" cy="0"/>
          </a:xfrm>
          <a:prstGeom prst="line">
            <a:avLst/>
          </a:prstGeom>
          <a:noFill/>
          <a:ln w="1524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348472" y="3182112"/>
            <a:ext cx="493776" cy="0"/>
          </a:xfrm>
          <a:prstGeom prst="line">
            <a:avLst/>
          </a:prstGeom>
          <a:noFill/>
          <a:ln w="1524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994392" y="3182112"/>
            <a:ext cx="493776" cy="0"/>
          </a:xfrm>
          <a:prstGeom prst="line">
            <a:avLst/>
          </a:prstGeom>
          <a:noFill/>
          <a:ln w="1524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283464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AF3FB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916936"/>
            <a:ext cx="10881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31720" y="283464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AF3FB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2916936"/>
            <a:ext cx="10881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77640" y="283464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AF3FB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0792" y="2916936"/>
            <a:ext cx="10881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23560" y="283464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FFF1D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96712" y="2916936"/>
            <a:ext cx="10881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69480" y="283464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8F4E6"/>
          </a:solidFill>
          <a:ln w="12700">
            <a:solidFill>
              <a:srgbClr val="5FA8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42632" y="2916936"/>
            <a:ext cx="10881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15400" y="283464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8F4E6"/>
          </a:solidFill>
          <a:ln w="12700">
            <a:solidFill>
              <a:srgbClr val="5FA8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88552" y="2916936"/>
            <a:ext cx="10881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561320" y="283464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8F4E6"/>
          </a:solidFill>
          <a:ln w="12700">
            <a:solidFill>
              <a:srgbClr val="5FA8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34472" y="2916936"/>
            <a:ext cx="10881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1605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D3D"/>
                </a:solidFill>
              </a:rPr>
              <a:t>Built to reduce manual deployment risk, keep Production controlled, and make release scope visible to business and technology leadership.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5800" y="5669280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8F4E6"/>
          </a:solidFill>
          <a:ln w="7620">
            <a:solidFill>
              <a:srgbClr val="B9D7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573786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E6E3E"/>
                </a:solidFill>
              </a:rPr>
              <a:t>Editable PowerPoint deck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017520" y="5669280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FFF1DC"/>
          </a:solidFill>
          <a:ln w="7620">
            <a:solidFill>
              <a:srgbClr val="E8C0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90672" y="5737860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8A5A00"/>
                </a:solidFill>
              </a:rPr>
              <a:t>Executive + migration flow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08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migration was needed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previous approach created avoidable operational and governance risk.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6464" y="1783080"/>
            <a:ext cx="777240" cy="777240"/>
          </a:xfrm>
          <a:prstGeom prst="ellipse">
            <a:avLst/>
          </a:prstGeom>
          <a:solidFill>
            <a:srgbClr val="C7524A"/>
          </a:solidFill>
          <a:ln w="12700">
            <a:solidFill>
              <a:srgbClr val="C75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6464" y="1965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7889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movement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3246120"/>
            <a:ext cx="1874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 and job settings were copied between environments manually.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3456432" y="150876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4528" y="1783080"/>
            <a:ext cx="777240" cy="7772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1965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85032" y="27889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Large job estate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85032" y="3246120"/>
            <a:ext cx="1874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Glue jobs exist, but only a few change in each release.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254496" y="150876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1783080"/>
            <a:ext cx="777240" cy="77724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2592" y="1965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83096" y="27889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 drift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83096" y="3246120"/>
            <a:ext cx="1874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Roles, paths, connections and extra files differ by environment.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9052560" y="150876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20656" y="1783080"/>
            <a:ext cx="777240" cy="777240"/>
          </a:xfrm>
          <a:prstGeom prst="ellipse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0656" y="19659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81160" y="27889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Limited audit trail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81160" y="3246120"/>
            <a:ext cx="1874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prove exactly which version reached Production.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841248" y="5349240"/>
            <a:ext cx="10698480" cy="594360"/>
          </a:xfrm>
          <a:prstGeom prst="roundRect">
            <a:avLst>
              <a:gd name="adj" fmla="val 12308"/>
            </a:avLst>
          </a:prstGeom>
          <a:solidFill>
            <a:srgbClr val="EAF3FB"/>
          </a:solidFill>
          <a:ln w="12700">
            <a:solidFill>
              <a:srgbClr val="B8D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5486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AA"/>
                </a:solidFill>
              </a:rPr>
              <a:t>Business impact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15768" y="54681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D3D"/>
                </a:solidFill>
              </a:rPr>
              <a:t>Higher chance of human error, unclear scope, slower validation, and more effort during audit or rollback.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08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Two-phase migration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Non-production flow is separated from Production deployment control.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7FBFF"/>
          </a:solidFill>
          <a:ln w="12700">
            <a:solidFill>
              <a:srgbClr val="BB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8249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1: Development → Test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560" y="233172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BBD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414016"/>
            <a:ext cx="4151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commits Glue job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3200400" y="2852928"/>
            <a:ext cx="0" cy="118872"/>
          </a:xfrm>
          <a:prstGeom prst="line">
            <a:avLst/>
          </a:prstGeom>
          <a:noFill/>
          <a:ln w="2032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51560" y="2990088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BBD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3072384"/>
            <a:ext cx="4151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CodeCommit stores job folder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3200400" y="3511296"/>
            <a:ext cx="0" cy="118872"/>
          </a:xfrm>
          <a:prstGeom prst="line">
            <a:avLst/>
          </a:prstGeom>
          <a:noFill/>
          <a:ln w="2032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51560" y="3648456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FFF1DC"/>
          </a:solidFill>
          <a:ln w="12700">
            <a:solidFill>
              <a:srgbClr val="BBD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730752"/>
            <a:ext cx="4151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pipeline promotes approved jobs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3200400" y="4169664"/>
            <a:ext cx="0" cy="118872"/>
          </a:xfrm>
          <a:prstGeom prst="line">
            <a:avLst/>
          </a:prstGeom>
          <a:noFill/>
          <a:ln w="2032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51560" y="4306824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EAF3FB"/>
          </a:solidFill>
          <a:ln w="12700">
            <a:solidFill>
              <a:srgbClr val="BBD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4389120"/>
            <a:ext cx="4151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repository receives selected jobs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3200400" y="4828032"/>
            <a:ext cx="0" cy="118872"/>
          </a:xfrm>
          <a:prstGeom prst="line">
            <a:avLst/>
          </a:prstGeom>
          <a:noFill/>
          <a:ln w="2032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51560" y="4965192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EAF3FB"/>
          </a:solidFill>
          <a:ln w="12700">
            <a:solidFill>
              <a:srgbClr val="BBD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4712" y="5047488"/>
            <a:ext cx="4151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Glue deployment validates change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263640" y="141732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7FFF7"/>
          </a:solidFill>
          <a:ln w="12700">
            <a:solidFill>
              <a:srgbClr val="C5DD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68249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2: Test → Production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29400" y="233172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D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2552" y="2414016"/>
            <a:ext cx="4151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job is selected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8778240" y="2852928"/>
            <a:ext cx="0" cy="118872"/>
          </a:xfrm>
          <a:prstGeom prst="line">
            <a:avLst/>
          </a:prstGeom>
          <a:noFill/>
          <a:ln w="20320">
            <a:solidFill>
              <a:srgbClr val="5FA85D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29400" y="2990088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D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3072384"/>
            <a:ext cx="4151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pipeline promotes to Prod repo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8778240" y="3511296"/>
            <a:ext cx="0" cy="118872"/>
          </a:xfrm>
          <a:prstGeom prst="line">
            <a:avLst/>
          </a:prstGeom>
          <a:noFill/>
          <a:ln w="20320">
            <a:solidFill>
              <a:srgbClr val="5FA85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29400" y="3648456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FFF1DC"/>
          </a:solidFill>
          <a:ln w="12700">
            <a:solidFill>
              <a:srgbClr val="C5DD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2552" y="3730752"/>
            <a:ext cx="4151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reviews deployment list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8778240" y="4169664"/>
            <a:ext cx="0" cy="118872"/>
          </a:xfrm>
          <a:prstGeom prst="line">
            <a:avLst/>
          </a:prstGeom>
          <a:noFill/>
          <a:ln w="20320">
            <a:solidFill>
              <a:srgbClr val="5FA85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29400" y="4306824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E8F4E6"/>
          </a:solidFill>
          <a:ln w="12700">
            <a:solidFill>
              <a:srgbClr val="C5DD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4389120"/>
            <a:ext cx="4151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Production CodeBuild runs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8778240" y="4828032"/>
            <a:ext cx="0" cy="118872"/>
          </a:xfrm>
          <a:prstGeom prst="line">
            <a:avLst/>
          </a:prstGeom>
          <a:noFill/>
          <a:ln w="20320">
            <a:solidFill>
              <a:srgbClr val="5FA85D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629400" y="4965192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E8F4E6"/>
          </a:solidFill>
          <a:ln w="12700">
            <a:solidFill>
              <a:srgbClr val="C5DDB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02552" y="5047488"/>
            <a:ext cx="4151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Glue job is created or updated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5806440" y="3291840"/>
            <a:ext cx="411480" cy="0"/>
          </a:xfrm>
          <a:prstGeom prst="line">
            <a:avLst/>
          </a:prstGeom>
          <a:noFill/>
          <a:ln w="1905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08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migration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from developer commit to Production validation.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393192" cy="393192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8074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07008" y="12618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65D"/>
                </a:solidFill>
              </a:rPr>
              <a:t>Developer commits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3474720" y="12618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</a:rPr>
              <a:t>Glue .py script and job .json are committed to the lower-environment repository.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36676" y="1700784"/>
            <a:ext cx="0" cy="164592"/>
          </a:xfrm>
          <a:prstGeom prst="line">
            <a:avLst/>
          </a:prstGeom>
          <a:noFill/>
          <a:ln w="2032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1956816"/>
            <a:ext cx="393192" cy="393192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39112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07008" y="19202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65D"/>
                </a:solidFill>
              </a:rPr>
              <a:t>Release list updated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</a:rPr>
              <a:t>Only approved folders are listed in release-jobs.json.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36676" y="2359152"/>
            <a:ext cx="0" cy="164592"/>
          </a:xfrm>
          <a:prstGeom prst="line">
            <a:avLst/>
          </a:prstGeom>
          <a:noFill/>
          <a:ln w="20320">
            <a:solidFill>
              <a:srgbClr val="1769A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2615184"/>
            <a:ext cx="393192" cy="393192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97480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07008" y="25786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65D"/>
                </a:solidFill>
              </a:rPr>
              <a:t>Pipeline is started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3474720" y="25786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</a:rPr>
              <a:t>A release owner manually runs the pipeline.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36676" y="3017520"/>
            <a:ext cx="0" cy="164592"/>
          </a:xfrm>
          <a:prstGeom prst="line">
            <a:avLst/>
          </a:prstGeom>
          <a:noFill/>
          <a:ln w="20320">
            <a:solidFill>
              <a:srgbClr val="F4A26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" y="3273552"/>
            <a:ext cx="393192" cy="3931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55848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07008" y="32369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65D"/>
                </a:solidFill>
              </a:rPr>
              <a:t>CodeBuild promotes code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3474720" y="3236976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</a:rPr>
              <a:t>Build assumes the target role and pushes selected folders to the next repository.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36676" y="3675888"/>
            <a:ext cx="0" cy="164592"/>
          </a:xfrm>
          <a:prstGeom prst="line">
            <a:avLst/>
          </a:prstGeom>
          <a:noFill/>
          <a:ln w="20320">
            <a:solidFill>
              <a:srgbClr val="F4A26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" y="3931920"/>
            <a:ext cx="393192" cy="3931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14216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07008" y="389534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65D"/>
                </a:solidFill>
              </a:rPr>
              <a:t>Deployment list updated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3474720" y="389534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</a:rPr>
              <a:t>Production lists only jobs approved for the current release.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836676" y="4334256"/>
            <a:ext cx="0" cy="164592"/>
          </a:xfrm>
          <a:prstGeom prst="line">
            <a:avLst/>
          </a:prstGeom>
          <a:noFill/>
          <a:ln w="20320">
            <a:solidFill>
              <a:srgbClr val="5FA85D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" y="4590288"/>
            <a:ext cx="393192" cy="393192"/>
          </a:xfrm>
          <a:prstGeom prst="ellipse">
            <a:avLst/>
          </a:prstGeom>
          <a:solidFill>
            <a:srgbClr val="5FA85D"/>
          </a:solidFill>
          <a:ln w="12700">
            <a:solidFill>
              <a:srgbClr val="5FA8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672584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207008" y="45537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65D"/>
                </a:solidFill>
              </a:rPr>
              <a:t>Deployment build runs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3474720" y="45537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</a:rPr>
              <a:t>Production CodeBuild uploads scripts to S3 and creates/updates Glue jobs.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836676" y="4992624"/>
            <a:ext cx="0" cy="164592"/>
          </a:xfrm>
          <a:prstGeom prst="line">
            <a:avLst/>
          </a:prstGeom>
          <a:noFill/>
          <a:ln w="20320">
            <a:solidFill>
              <a:srgbClr val="5FA85D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40080" y="5248656"/>
            <a:ext cx="393192" cy="393192"/>
          </a:xfrm>
          <a:prstGeom prst="ellipse">
            <a:avLst/>
          </a:prstGeom>
          <a:solidFill>
            <a:srgbClr val="5FA85D"/>
          </a:solidFill>
          <a:ln w="12700">
            <a:solidFill>
              <a:srgbClr val="5FA8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330952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07008" y="52120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65D"/>
                </a:solidFill>
              </a:rPr>
              <a:t>Validation completed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3474720" y="52120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</a:rPr>
              <a:t>Team checks job role, paths, connection, default arguments and run behavior.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08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controls prevent uncontrolled deployment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job can exist in a repository without being deployed.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49377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release-jobs.json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2212848"/>
            <a:ext cx="4160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what moves forward from the current environment into the next repository.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43000" y="2907792"/>
            <a:ext cx="4160520" cy="13716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3017520"/>
            <a:ext cx="3886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"release": "1.1",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"jobs": [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"CustomerExtract",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"ProductPublish"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49377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deployment-jobs.txt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20840" y="2212848"/>
            <a:ext cx="4160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what is actually deployed into the target Glue environment for this release.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2907792"/>
            <a:ext cx="4160520" cy="13716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3017520"/>
            <a:ext cx="3886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Current approved deployment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CustomerExtract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ProductPublish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806440" y="3474720"/>
            <a:ext cx="548640" cy="0"/>
          </a:xfrm>
          <a:prstGeom prst="line">
            <a:avLst/>
          </a:prstGeom>
          <a:noFill/>
          <a:ln w="1905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0120" y="571500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EAF3FB"/>
          </a:solidFill>
          <a:ln w="12700">
            <a:solidFill>
              <a:srgbClr val="B8D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5852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AA"/>
                </a:solidFill>
              </a:rPr>
              <a:t>Outcome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5833872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D3D"/>
                </a:solidFill>
              </a:rPr>
              <a:t>Even if the repository contains 200 jobs, only listed jobs are promoted or deployed.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08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Environment-specific values are handled centrally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settings are applied automatically during deployment.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21488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36776"/>
            <a:ext cx="2002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Test JSON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3246120" y="1600200"/>
            <a:ext cx="7772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Role, ScriptLocation, TempDir, Spark logs, connections and extra files may point to Test resources.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1947672" y="2084832"/>
            <a:ext cx="0" cy="182880"/>
          </a:xfrm>
          <a:prstGeom prst="line">
            <a:avLst/>
          </a:prstGeom>
          <a:noFill/>
          <a:ln w="20320">
            <a:solidFill>
              <a:srgbClr val="F4A26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68680" y="2468880"/>
            <a:ext cx="2148840" cy="512064"/>
          </a:xfrm>
          <a:prstGeom prst="roundRect">
            <a:avLst>
              <a:gd name="adj" fmla="val 14286"/>
            </a:avLst>
          </a:prstGeom>
          <a:solidFill>
            <a:srgbClr val="FFF1D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551176"/>
            <a:ext cx="2002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glue_config.py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3246120" y="2514600"/>
            <a:ext cx="7772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map changes only environment-specific values.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1947672" y="2999232"/>
            <a:ext cx="0" cy="182880"/>
          </a:xfrm>
          <a:prstGeom prst="line">
            <a:avLst/>
          </a:prstGeom>
          <a:noFill/>
          <a:ln w="20320">
            <a:solidFill>
              <a:srgbClr val="5FA85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" y="3383280"/>
            <a:ext cx="21488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465576"/>
            <a:ext cx="2002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Glue Job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246120" y="3429000"/>
            <a:ext cx="7772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is created/updated with Production role, S3 paths and connections.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914400" y="4617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stays from tested job definition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502920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E8F4E6"/>
          </a:solidFill>
          <a:ln w="12700">
            <a:solidFill>
              <a:srgbClr val="5FA8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5111496"/>
            <a:ext cx="46542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• Script path • TempDir • Spark logs • Connections • Extra files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502920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EAF3FB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5111496"/>
            <a:ext cx="46542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Glue version • Workers • Timeout • Retries • Most job arguments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08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and separation of responsibility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deployment is not an automatic side effect of a developer commit.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920240" cy="3337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Developer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2331720"/>
            <a:ext cx="15910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Glue job script and JSON.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2560320" y="3108960"/>
            <a:ext cx="320040" cy="0"/>
          </a:xfrm>
          <a:prstGeom prst="line">
            <a:avLst/>
          </a:prstGeom>
          <a:noFill/>
          <a:ln w="1524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1508760"/>
            <a:ext cx="1920240" cy="3337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26664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Release owner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44952" y="2331720"/>
            <a:ext cx="15910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Selects jobs for non-production promotion.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800600" y="3108960"/>
            <a:ext cx="320040" cy="0"/>
          </a:xfrm>
          <a:prstGeom prst="line">
            <a:avLst/>
          </a:prstGeom>
          <a:noFill/>
          <a:ln w="1524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1508760"/>
            <a:ext cx="1920240" cy="33375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66944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Tester / QA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85232" y="2331720"/>
            <a:ext cx="15910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 Test execution and outputs.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040880" y="3108960"/>
            <a:ext cx="320040" cy="0"/>
          </a:xfrm>
          <a:prstGeom prst="line">
            <a:avLst/>
          </a:prstGeom>
          <a:noFill/>
          <a:ln w="1524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60920" y="1508760"/>
            <a:ext cx="1920240" cy="3337560"/>
          </a:xfrm>
          <a:prstGeom prst="roundRect">
            <a:avLst>
              <a:gd name="adj" fmla="val 3810"/>
            </a:avLst>
          </a:prstGeom>
          <a:solidFill>
            <a:srgbClr val="E8F4E6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07224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Production owner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25512" y="2331720"/>
            <a:ext cx="15910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Approves deployment list and starts Production deployment.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281160" y="3108960"/>
            <a:ext cx="320040" cy="0"/>
          </a:xfrm>
          <a:prstGeom prst="line">
            <a:avLst/>
          </a:prstGeom>
          <a:noFill/>
          <a:ln w="1524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1508760"/>
            <a:ext cx="1920240" cy="3337560"/>
          </a:xfrm>
          <a:prstGeom prst="roundRect">
            <a:avLst>
              <a:gd name="adj" fmla="val 3810"/>
            </a:avLst>
          </a:prstGeom>
          <a:solidFill>
            <a:srgbClr val="E8F4E6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47504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Cloud platform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65792" y="2331720"/>
            <a:ext cx="15910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Maintains IAM, CodeBuild, CodePipeline and mappings.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22960" y="5532120"/>
            <a:ext cx="10561320" cy="530352"/>
          </a:xfrm>
          <a:prstGeom prst="roundRect">
            <a:avLst>
              <a:gd name="adj" fmla="val 13793"/>
            </a:avLst>
          </a:prstGeom>
          <a:solidFill>
            <a:srgbClr val="EAF3FB"/>
          </a:solidFill>
          <a:ln w="12700">
            <a:solidFill>
              <a:srgbClr val="B8D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56692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AA"/>
                </a:solidFill>
              </a:rPr>
              <a:t>Control principle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5650992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D3D"/>
                </a:solidFill>
              </a:rPr>
              <a:t>Each handoff is visible, logged and scoped by a small release or deployment list.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08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Migration runbook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migration can be executed in a controlled sequence.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7FBFF"/>
          </a:solidFill>
          <a:ln w="12700">
            <a:solidFill>
              <a:srgbClr val="BB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1: Non-Production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2240280"/>
            <a:ext cx="420624" cy="438912"/>
          </a:xfrm>
          <a:prstGeom prst="roundRect">
            <a:avLst>
              <a:gd name="adj" fmla="val 10870"/>
            </a:avLst>
          </a:prstGeom>
          <a:solidFill>
            <a:srgbClr val="1769AA"/>
          </a:solidFill>
          <a:ln w="10160">
            <a:solidFill>
              <a:srgbClr val="176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3682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1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1435608" y="2240280"/>
            <a:ext cx="4325112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63624" y="2350008"/>
            <a:ext cx="4050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Create Dev/Test repositories and buckets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2852928"/>
            <a:ext cx="420624" cy="438912"/>
          </a:xfrm>
          <a:prstGeom prst="roundRect">
            <a:avLst>
              <a:gd name="adj" fmla="val 10870"/>
            </a:avLst>
          </a:prstGeom>
          <a:solidFill>
            <a:srgbClr val="1769AA"/>
          </a:solidFill>
          <a:ln w="10160">
            <a:solidFill>
              <a:srgbClr val="1769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9809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2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1435608" y="2852928"/>
            <a:ext cx="4325112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2962656"/>
            <a:ext cx="4050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Create CodeBuild roles and cross-account trust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3465576"/>
            <a:ext cx="420624" cy="438912"/>
          </a:xfrm>
          <a:prstGeom prst="roundRect">
            <a:avLst>
              <a:gd name="adj" fmla="val 10870"/>
            </a:avLst>
          </a:prstGeom>
          <a:solidFill>
            <a:srgbClr val="1769AA"/>
          </a:solidFill>
          <a:ln w="10160">
            <a:solidFill>
              <a:srgbClr val="1769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59359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3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1435608" y="3465576"/>
            <a:ext cx="4325112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63624" y="3575304"/>
            <a:ext cx="4050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Add release.py, release-jobs.json and buildspec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4078224"/>
            <a:ext cx="420624" cy="438912"/>
          </a:xfrm>
          <a:prstGeom prst="roundRect">
            <a:avLst>
              <a:gd name="adj" fmla="val 10870"/>
            </a:avLst>
          </a:prstGeom>
          <a:solidFill>
            <a:srgbClr val="1769AA"/>
          </a:solidFill>
          <a:ln w="10160">
            <a:solidFill>
              <a:srgbClr val="1769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4206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4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1435608" y="4078224"/>
            <a:ext cx="4325112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63624" y="4187952"/>
            <a:ext cx="4050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Create manual Dev → Test pipeline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" y="4690872"/>
            <a:ext cx="420624" cy="438912"/>
          </a:xfrm>
          <a:prstGeom prst="roundRect">
            <a:avLst>
              <a:gd name="adj" fmla="val 10870"/>
            </a:avLst>
          </a:prstGeom>
          <a:solidFill>
            <a:srgbClr val="1769AA"/>
          </a:solidFill>
          <a:ln w="10160">
            <a:solidFill>
              <a:srgbClr val="1769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48188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5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1435608" y="4690872"/>
            <a:ext cx="4325112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63624" y="4800600"/>
            <a:ext cx="4050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Promote and validate first Test job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141732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7FFF7"/>
          </a:solidFill>
          <a:ln w="12700">
            <a:solidFill>
              <a:srgbClr val="C5DD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2: Production deployment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37960" y="2240280"/>
            <a:ext cx="420624" cy="438912"/>
          </a:xfrm>
          <a:prstGeom prst="roundRect">
            <a:avLst>
              <a:gd name="adj" fmla="val 10870"/>
            </a:avLst>
          </a:prstGeom>
          <a:solidFill>
            <a:srgbClr val="1769AA"/>
          </a:solidFill>
          <a:ln w="10160">
            <a:solidFill>
              <a:srgbClr val="1769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6248" y="23682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1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7013448" y="2240280"/>
            <a:ext cx="4325112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41464" y="2350008"/>
            <a:ext cx="4050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Create Production bucket, Glue role and connections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37960" y="2852928"/>
            <a:ext cx="420624" cy="438912"/>
          </a:xfrm>
          <a:prstGeom prst="roundRect">
            <a:avLst>
              <a:gd name="adj" fmla="val 10870"/>
            </a:avLst>
          </a:prstGeom>
          <a:solidFill>
            <a:srgbClr val="1769AA"/>
          </a:solidFill>
          <a:ln w="10160">
            <a:solidFill>
              <a:srgbClr val="1769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56248" y="29809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2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7013448" y="2852928"/>
            <a:ext cx="4325112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41464" y="2962656"/>
            <a:ext cx="4050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Create Production CodeCommit and push role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37960" y="3465576"/>
            <a:ext cx="420624" cy="438912"/>
          </a:xfrm>
          <a:prstGeom prst="roundRect">
            <a:avLst>
              <a:gd name="adj" fmla="val 10870"/>
            </a:avLst>
          </a:prstGeom>
          <a:solidFill>
            <a:srgbClr val="1769AA"/>
          </a:solidFill>
          <a:ln w="10160">
            <a:solidFill>
              <a:srgbClr val="1769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56248" y="359359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3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7013448" y="3465576"/>
            <a:ext cx="4325112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41464" y="3575304"/>
            <a:ext cx="4050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Add deploy.py, glue_config.py and deployment-jobs.txt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37960" y="4078224"/>
            <a:ext cx="420624" cy="438912"/>
          </a:xfrm>
          <a:prstGeom prst="roundRect">
            <a:avLst>
              <a:gd name="adj" fmla="val 10870"/>
            </a:avLst>
          </a:prstGeom>
          <a:solidFill>
            <a:srgbClr val="1769AA"/>
          </a:solidFill>
          <a:ln w="10160">
            <a:solidFill>
              <a:srgbClr val="1769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56248" y="4206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4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7013448" y="4078224"/>
            <a:ext cx="4325112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41464" y="4187952"/>
            <a:ext cx="4050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Create manual Production CodeBuild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37960" y="4690872"/>
            <a:ext cx="420624" cy="438912"/>
          </a:xfrm>
          <a:prstGeom prst="roundRect">
            <a:avLst>
              <a:gd name="adj" fmla="val 10870"/>
            </a:avLst>
          </a:prstGeom>
          <a:solidFill>
            <a:srgbClr val="1769AA"/>
          </a:solidFill>
          <a:ln w="10160">
            <a:solidFill>
              <a:srgbClr val="1769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56248" y="48188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5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7013448" y="4690872"/>
            <a:ext cx="4325112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41464" y="4800600"/>
            <a:ext cx="4050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Deploy and validate first Production job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08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and rollback are built into the operating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process supports both proof and recovery.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checks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219456" cy="219456"/>
          </a:xfrm>
          <a:prstGeom prst="ellipse">
            <a:avLst/>
          </a:prstGeom>
          <a:solidFill>
            <a:srgbClr val="5FA85D"/>
          </a:solidFill>
          <a:ln w="12700">
            <a:solidFill>
              <a:srgbClr val="5FA8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9738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207008" y="1847088"/>
            <a:ext cx="40233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job created or updated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68680" y="2286000"/>
            <a:ext cx="219456" cy="219456"/>
          </a:xfrm>
          <a:prstGeom prst="ellipse">
            <a:avLst/>
          </a:prstGeom>
          <a:solidFill>
            <a:srgbClr val="5FA85D"/>
          </a:solidFill>
          <a:ln w="12700">
            <a:solidFill>
              <a:srgbClr val="5FA8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0886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207008" y="2258568"/>
            <a:ext cx="40233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role applied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68680" y="2697480"/>
            <a:ext cx="219456" cy="219456"/>
          </a:xfrm>
          <a:prstGeom prst="ellipse">
            <a:avLst/>
          </a:prstGeom>
          <a:solidFill>
            <a:srgbClr val="5FA85D"/>
          </a:solidFill>
          <a:ln w="12700">
            <a:solidFill>
              <a:srgbClr val="5FA8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72034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207008" y="2670048"/>
            <a:ext cx="40233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uploaded to Production S3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68680" y="3108960"/>
            <a:ext cx="219456" cy="219456"/>
          </a:xfrm>
          <a:prstGeom prst="ellipse">
            <a:avLst/>
          </a:prstGeom>
          <a:solidFill>
            <a:srgbClr val="5FA85D"/>
          </a:solidFill>
          <a:ln w="12700">
            <a:solidFill>
              <a:srgbClr val="5FA8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13182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207008" y="3081528"/>
            <a:ext cx="40233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TempDir and Spark logs point to Production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68680" y="3520440"/>
            <a:ext cx="219456" cy="219456"/>
          </a:xfrm>
          <a:prstGeom prst="ellipse">
            <a:avLst/>
          </a:prstGeom>
          <a:solidFill>
            <a:srgbClr val="5FA85D"/>
          </a:solidFill>
          <a:ln w="12700">
            <a:solidFill>
              <a:srgbClr val="5FA8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54330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207008" y="3493008"/>
            <a:ext cx="40233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Connections and extra files mapped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68680" y="3931920"/>
            <a:ext cx="219456" cy="219456"/>
          </a:xfrm>
          <a:prstGeom prst="ellipse">
            <a:avLst/>
          </a:prstGeom>
          <a:solidFill>
            <a:srgbClr val="5FA85D"/>
          </a:solidFill>
          <a:ln w="12700">
            <a:solidFill>
              <a:srgbClr val="5FA8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95478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07008" y="3904488"/>
            <a:ext cx="40233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Unlisted jobs remain unchanged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40080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Rollback path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00800" y="1874520"/>
            <a:ext cx="420624" cy="475488"/>
          </a:xfrm>
          <a:prstGeom prst="roundRect">
            <a:avLst>
              <a:gd name="adj" fmla="val 10870"/>
            </a:avLst>
          </a:prstGeom>
          <a:solidFill>
            <a:srgbClr val="1769AA"/>
          </a:solidFill>
          <a:ln w="10160">
            <a:solidFill>
              <a:srgbClr val="1769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20025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1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876288" y="1874520"/>
            <a:ext cx="4233672" cy="475488"/>
          </a:xfrm>
          <a:prstGeom prst="roundRect">
            <a:avLst>
              <a:gd name="adj" fmla="val 9615"/>
            </a:avLst>
          </a:prstGeom>
          <a:solidFill>
            <a:srgbClr val="EAF3FB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4304" y="1984248"/>
            <a:ext cx="395935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Restore last known-good files in Production repository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2560320"/>
            <a:ext cx="420624" cy="475488"/>
          </a:xfrm>
          <a:prstGeom prst="roundRect">
            <a:avLst>
              <a:gd name="adj" fmla="val 10870"/>
            </a:avLst>
          </a:prstGeom>
          <a:solidFill>
            <a:srgbClr val="1769AA"/>
          </a:solidFill>
          <a:ln w="10160">
            <a:solidFill>
              <a:srgbClr val="1769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26883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2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876288" y="2560320"/>
            <a:ext cx="42336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04304" y="2670048"/>
            <a:ext cx="395935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List affected job in deployment-jobs.txt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3246120"/>
            <a:ext cx="420624" cy="475488"/>
          </a:xfrm>
          <a:prstGeom prst="roundRect">
            <a:avLst>
              <a:gd name="adj" fmla="val 10870"/>
            </a:avLst>
          </a:prstGeom>
          <a:solidFill>
            <a:srgbClr val="1769AA"/>
          </a:solidFill>
          <a:ln w="10160">
            <a:solidFill>
              <a:srgbClr val="1769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33741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3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876288" y="3246120"/>
            <a:ext cx="42336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04304" y="3355848"/>
            <a:ext cx="395935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Run Production CodeBuild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3931920"/>
            <a:ext cx="420624" cy="475488"/>
          </a:xfrm>
          <a:prstGeom prst="roundRect">
            <a:avLst>
              <a:gd name="adj" fmla="val 10870"/>
            </a:avLst>
          </a:prstGeom>
          <a:solidFill>
            <a:srgbClr val="1769AA"/>
          </a:solidFill>
          <a:ln w="10160">
            <a:solidFill>
              <a:srgbClr val="1769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40599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4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6876288" y="3931920"/>
            <a:ext cx="42336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D5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04304" y="4041648"/>
            <a:ext cx="395935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Verify Glue job configuration and script path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" y="5715000"/>
            <a:ext cx="10332720" cy="512064"/>
          </a:xfrm>
          <a:prstGeom prst="roundRect">
            <a:avLst>
              <a:gd name="adj" fmla="val 14286"/>
            </a:avLst>
          </a:prstGeom>
          <a:solidFill>
            <a:srgbClr val="EAF3FB"/>
          </a:solidFill>
          <a:ln w="12700">
            <a:solidFill>
              <a:srgbClr val="B8D8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4128" y="5852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AA"/>
                </a:solidFill>
              </a:rPr>
              <a:t>Risk posture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697480" y="5833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D3D"/>
                </a:solidFill>
              </a:rPr>
              <a:t>Rollback is scoped to the affected job rather than the entire Glue estate.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08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company gets from this migration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release process that scales beyond the first set of jobs.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reduction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2011680"/>
            <a:ext cx="257860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manual edits and lower chance of environment mix-ups.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EAF3FB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98848" y="2011680"/>
            <a:ext cx="257860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control and logs show what moved and when.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7863840" y="141732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5008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65008" y="2011680"/>
            <a:ext cx="257860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for one job, five jobs or hundreds of jobs.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EAF3FB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456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3840480"/>
            <a:ext cx="257860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deployment remains explicit and scoped.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4297680" y="324612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3456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98848" y="3840480"/>
            <a:ext cx="257860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versions can be restored from repository history.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863840" y="324612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EAF3FB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3456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Standardization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65008" y="3840480"/>
            <a:ext cx="257860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runbook can be adopted by other teams.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777240" y="5623560"/>
            <a:ext cx="10561320" cy="594360"/>
          </a:xfrm>
          <a:prstGeom prst="roundRect">
            <a:avLst>
              <a:gd name="adj" fmla="val 12308"/>
            </a:avLst>
          </a:prstGeom>
          <a:solidFill>
            <a:srgbClr val="EAF3FB"/>
          </a:solidFill>
          <a:ln w="12700">
            <a:solidFill>
              <a:srgbClr val="B8D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5760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AA"/>
                </a:solidFill>
              </a:rPr>
              <a:t>Bottom 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5742432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D3D"/>
                </a:solidFill>
              </a:rPr>
              <a:t>The migration changes Glue deployment from a manual activity into a controlled, repeatable and auditable operating model.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08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Cloud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Glue CI/CD Migration Overview</dc:title>
  <dc:subject>AWS Glue CI/CD migration overview</dc:subject>
  <dc:creator>Cloud Engineering</dc:creator>
  <cp:lastModifiedBy>Cloud Engineering</cp:lastModifiedBy>
  <cp:revision>1</cp:revision>
  <dcterms:created xsi:type="dcterms:W3CDTF">2026-08-26T21:11:44Z</dcterms:created>
  <dcterms:modified xsi:type="dcterms:W3CDTF">2026-08-26T21:11:44Z</dcterms:modified>
</cp:coreProperties>
</file>